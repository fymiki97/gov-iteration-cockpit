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Shap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62D4A"/>
          </a:solidFill>
        </p:spPr>
      </p:sp>
      <p:sp>
        <p:nvSpPr>
          <p:cNvPr id="4" name="Text 2"/>
          <p:cNvSpPr/>
          <p:nvPr/>
        </p:nvSpPr>
        <p:spPr>
          <a:xfrm>
            <a:off x="914400" y="1645920"/>
            <a:ext cx="10360152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政务产研迭代进度看板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1036015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 · 里程碑 · 风险 —— 三位一体实时管理驾驶舱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103601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 政务产品研发迭代规划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669280"/>
            <a:ext cx="103601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WPS 365 智能应用平台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0" y="6492240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E4ECF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1463040"/>
            <a:ext cx="91440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 应用定位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71600" y="1938528"/>
            <a:ext cx="91440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 建设背景与痛点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2414016"/>
            <a:ext cx="91440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 核心功能 — 迭代概览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71600" y="2889504"/>
            <a:ext cx="91440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 核心功能 — 月度迭代情况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3364992"/>
            <a:ext cx="91440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 核心功能 — 需求列表 &amp; 里程碑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71600" y="3840480"/>
            <a:ext cx="91440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 技术架构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4315968"/>
            <a:ext cx="91440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 数据模型与核心算法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71600" y="4791456"/>
            <a:ext cx="91440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  业务价值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71600" y="5266944"/>
            <a:ext cx="91440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  使用与获取方式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71600" y="5742432"/>
            <a:ext cx="91440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 总结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114800" y="6492240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 / 10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E4ECF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 应用定位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一句话定义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069848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11680"/>
            <a:ext cx="101498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面向政务产品研发团队的 B</a:t>
            </a:r>
            <a:r>
              <a:rPr lang="zh-CN" altLang="en-US" sz="16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altLang="zh-CN" sz="16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</a:t>
            </a:r>
            <a:r>
              <a:rPr lang="en-US" sz="16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端迭代管理看板，部署在 WPS 365 智能应用平台，</a:t>
            </a:r>
            <a:endParaRPr lang="en-US" sz="16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将分散在多维表格中的需求、里程碑、风险数据汇聚为一张实时管理驾驶舱。</a:t>
            </a:r>
            <a:endParaRPr lang="en-US" sz="1600" dirty="0"/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731520" y="3474720"/>
            <a:ext cx="33832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effectLst>
            <a:outerShdw blurRad="76200" dist="25400" dir="16200000" algn="bl" rotWithShape="0">
              <a:srgbClr val="D0D5DD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657600"/>
            <a:ext cx="3383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dist">
              <a:buNone/>
            </a:pPr>
            <a:r>
              <a:rPr lang="en-US" sz="3200" dirty="0">
                <a:solidFill>
                  <a:srgbClr val="000000"/>
                </a:solidFill>
              </a:rPr>
              <a:t>              📊</a:t>
            </a:r>
            <a:endParaRPr lang="en-US" sz="3200" dirty="0"/>
          </a:p>
        </p:txBody>
      </p:sp>
      <p:sp>
        <p:nvSpPr>
          <p:cNvPr id="9" name="Text 7"/>
          <p:cNvSpPr/>
          <p:nvPr>
            <p:custDataLst>
              <p:tags r:id="rId2"/>
            </p:custDataLst>
          </p:nvPr>
        </p:nvSpPr>
        <p:spPr>
          <a:xfrm>
            <a:off x="731520" y="4297680"/>
            <a:ext cx="3383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管理驾驶舱</a:t>
            </a:r>
            <a:endParaRPr lang="en-US" sz="1600" dirty="0"/>
          </a:p>
        </p:txBody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1005840" y="4846320"/>
            <a:ext cx="28346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一屏掌握全局进度与风险</a:t>
            </a:r>
            <a:endParaRPr lang="en-US" sz="1300" dirty="0"/>
          </a:p>
        </p:txBody>
      </p:sp>
      <p:sp>
        <p:nvSpPr>
          <p:cNvPr id="11" name="Shape 9"/>
          <p:cNvSpPr/>
          <p:nvPr>
            <p:custDataLst>
              <p:tags r:id="rId4"/>
            </p:custDataLst>
          </p:nvPr>
        </p:nvSpPr>
        <p:spPr>
          <a:xfrm>
            <a:off x="4389120" y="3474720"/>
            <a:ext cx="33832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effectLst>
            <a:outerShdw blurRad="76200" dist="25400" dir="16200000" algn="bl" rotWithShape="0">
              <a:srgbClr val="D0D5DD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0" y="3657600"/>
            <a:ext cx="3383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🔗</a:t>
            </a:r>
            <a:endParaRPr lang="en-US" sz="3200" dirty="0"/>
          </a:p>
        </p:txBody>
      </p:sp>
      <p:sp>
        <p:nvSpPr>
          <p:cNvPr id="13" name="Text 11"/>
          <p:cNvSpPr/>
          <p:nvPr>
            <p:custDataLst>
              <p:tags r:id="rId5"/>
            </p:custDataLst>
          </p:nvPr>
        </p:nvSpPr>
        <p:spPr>
          <a:xfrm>
            <a:off x="4389120" y="4297680"/>
            <a:ext cx="3383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数据零迁移</a:t>
            </a:r>
            <a:endParaRPr lang="en-US" sz="1600" dirty="0"/>
          </a:p>
        </p:txBody>
      </p:sp>
      <p:sp>
        <p:nvSpPr>
          <p:cNvPr id="14" name="Text 12"/>
          <p:cNvSpPr/>
          <p:nvPr>
            <p:custDataLst>
              <p:tags r:id="rId6"/>
            </p:custDataLst>
          </p:nvPr>
        </p:nvSpPr>
        <p:spPr>
          <a:xfrm>
            <a:off x="4663440" y="4846320"/>
            <a:ext cx="28346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数据仍在WPS表格维护，看板只读展示</a:t>
            </a:r>
            <a:endParaRPr lang="en-US" sz="1300" dirty="0"/>
          </a:p>
        </p:txBody>
      </p:sp>
      <p:sp>
        <p:nvSpPr>
          <p:cNvPr id="15" name="Shape 13"/>
          <p:cNvSpPr/>
          <p:nvPr>
            <p:custDataLst>
              <p:tags r:id="rId7"/>
            </p:custDataLst>
          </p:nvPr>
        </p:nvSpPr>
        <p:spPr>
          <a:xfrm>
            <a:off x="8046720" y="3474720"/>
            <a:ext cx="33832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effectLst>
            <a:outerShdw blurRad="76200" dist="25400" dir="16200000" algn="bl" rotWithShape="0">
              <a:srgbClr val="D0D5DD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46720" y="3657600"/>
            <a:ext cx="3383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   🏛️</a:t>
            </a:r>
            <a:endParaRPr lang="en-US" sz="3200" dirty="0"/>
          </a:p>
        </p:txBody>
      </p:sp>
      <p:sp>
        <p:nvSpPr>
          <p:cNvPr id="17" name="Text 15"/>
          <p:cNvSpPr/>
          <p:nvPr>
            <p:custDataLst>
              <p:tags r:id="rId8"/>
            </p:custDataLst>
          </p:nvPr>
        </p:nvSpPr>
        <p:spPr>
          <a:xfrm>
            <a:off x="8046720" y="4297680"/>
            <a:ext cx="3383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政务风格</a:t>
            </a:r>
            <a:endParaRPr lang="en-US" sz="1600" dirty="0"/>
          </a:p>
        </p:txBody>
      </p:sp>
      <p:sp>
        <p:nvSpPr>
          <p:cNvPr id="18" name="Text 16"/>
          <p:cNvSpPr/>
          <p:nvPr>
            <p:custDataLst>
              <p:tags r:id="rId9"/>
            </p:custDataLst>
          </p:nvPr>
        </p:nvSpPr>
        <p:spPr>
          <a:xfrm>
            <a:off x="8321040" y="4846320"/>
            <a:ext cx="28346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简洁、专业、规整，适合日常查看和汇报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0" y="6492240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 / 10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E4ECF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 建设背景与痛点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48640" y="1371600"/>
          <a:ext cx="11064240" cy="3017520"/>
        </p:xfrm>
        <a:graphic>
          <a:graphicData uri="http://schemas.openxmlformats.org/drawingml/2006/table">
            <a:tbl>
              <a:tblPr/>
              <a:tblGrid>
                <a:gridCol w="1645920"/>
                <a:gridCol w="941832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维度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说明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业务背景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2026年政务产品研发迭代规划，需求按月度排期，需跨月追踪进度、里程碑和风险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数据现状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原始数据维护在WPS多维表格(dbsheet)中，分三张表：需求(2000+)、里程碑(200)、风险(50)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核心痛点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表格适合录入，不适合一眼看全局；月度进度、风险状态、里程碑节点分散，汇报和决策成本高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解决思路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基于WPS365 SDK读取多维表格，前端做聚合、加权计算和可视化展示，数据仍由表格维护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548640" y="475488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240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核心理念：不改变现有工作流，表格继续用来录入，看板只做可视化聚合展示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240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数据来源：同一份WPS多维表格，Sheet 21(需求)、Sheet 23(里程碑)、Sheet 24(风险)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0" y="6492240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 / 10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E4ECF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 核心功能 — 迭代概览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全局驾驶舱，一屏掌握整体情况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10235" y="192024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4ECFC"/>
            </a:solidFill>
            <a:prstDash val="solid"/>
          </a:ln>
          <a:effectLst>
            <a:outerShdw blurRad="76200" dist="25400" dir="16200000" algn="bl" rotWithShape="0">
              <a:srgbClr val="D0D5DD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0235" y="2154555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10235" y="2817495"/>
            <a:ext cx="2651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需求总数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3115" y="3175635"/>
            <a:ext cx="2286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全量需求统计</a:t>
            </a:r>
            <a:endParaRPr lang="en-US" sz="12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可点击跳转列表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44875" y="192024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4ECFC"/>
            </a:solidFill>
            <a:prstDash val="solid"/>
          </a:ln>
          <a:effectLst>
            <a:outerShdw blurRad="76200" dist="25400" dir="16200000" algn="bl" rotWithShape="0">
              <a:srgbClr val="D0D5DD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44875" y="2154555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44875" y="2817495"/>
            <a:ext cx="2651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已完成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27755" y="3175635"/>
            <a:ext cx="2286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已发布需求数</a:t>
            </a:r>
            <a:endParaRPr lang="en-US" sz="12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带条件跳转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79515" y="192024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4ECFC"/>
            </a:solidFill>
            <a:prstDash val="solid"/>
          </a:ln>
          <a:effectLst>
            <a:outerShdw blurRad="76200" dist="25400" dir="16200000" algn="bl" rotWithShape="0">
              <a:srgbClr val="D0D5DD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79515" y="2154555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79515" y="2817495"/>
            <a:ext cx="2651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剩余风险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62395" y="3175635"/>
            <a:ext cx="2286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未关闭/未规避</a:t>
            </a:r>
            <a:endParaRPr lang="en-US" sz="12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活跃风险计数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14155" y="192024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4ECFC"/>
            </a:solidFill>
            <a:prstDash val="solid"/>
          </a:ln>
          <a:effectLst>
            <a:outerShdw blurRad="76200" dist="25400" dir="16200000" algn="bl" rotWithShape="0">
              <a:srgbClr val="D0D5DD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14155" y="2154555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114155" y="2817495"/>
            <a:ext cx="2651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完成进度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297035" y="3175635"/>
            <a:ext cx="2286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状态加权算法</a:t>
            </a:r>
            <a:endParaRPr lang="en-US" sz="12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非简单计数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更多能力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5029200"/>
            <a:ext cx="10058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 状态分布柱状图，支持 hover 查看各状态具体数量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5440680"/>
            <a:ext cx="10058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 风险跟踪模块：按应对策略分组，展示活跃风险并关联 ONES 需求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5852160"/>
            <a:ext cx="10058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 指标卡可点击跳转需求列表，自动带上筛选条件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0" y="6492240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5 / 10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E4ECF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 核心功能 — 月度迭代情况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4E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4754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「全部」视图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4572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 各月卡片概览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4572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 进度百分比 + 状态分布标签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4572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 里程碑数量 + 风险数量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337560"/>
            <a:ext cx="4572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 点击卡片进入详情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4E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463040"/>
            <a:ext cx="4937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单月详情视图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0" y="210312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 进度（含权重说明 Popover）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2487168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 状态分布饼图 + 数值表格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75120" y="2871216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 里程碑进展（已完成自动折叠）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3255264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 延期完成项特殊标记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75120" y="3639312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 风险跟踪模块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75120" y="402336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 需求列表（可跳转）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4407408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 里程碑完成数 / 未关闭风险数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0" y="6492240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 / 10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E4ECFC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 核心功能 — 需求列表 &amp; 里程碑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effectLst>
            <a:outerShdw blurRad="50800" dist="25400" dir="16200000" algn="bl" rotWithShape="0">
              <a:srgbClr val="D0D5DD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📋  需求列表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4572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 多维度筛选：迭代月份、状态、负责人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4572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 全文搜索：标题/ONES ID/状态/项目/负责人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4572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 分页展示，每页20条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337560"/>
            <a:ext cx="4572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 从概览页带条件跳转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749040"/>
            <a:ext cx="4572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 每条需求可跳转ONES链接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effectLst>
            <a:outerShdw blurRad="50800" dist="25400" dir="16200000" algn="bl" rotWithShape="0">
              <a:srgbClr val="D0D5DD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1463040"/>
            <a:ext cx="4937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🎯  里程碑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210312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单月视图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75120" y="246888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时间轴样式，展示计划/实际时间与延期情况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301752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全部视图 — 自然时间视图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0" y="347472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 按 已逾期→今日→明日→本周→本月→下月→已完成 分组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3858768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 顶部高亮「下一个里程碑」卡片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4242816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 快捷筛选：全部 / 近7天 / 待完成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4626864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 名称搜索 + 标注所属迭代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5010912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 状态颜色：绿(完成) 蓝(进行) 橙(待开始) 红(逾期)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6492240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7 / 10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E4ECFC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 技术架构</a:t>
            </a:r>
            <a:endParaRPr lang="en-US" sz="2400" dirty="0"/>
          </a:p>
        </p:txBody>
      </p:sp>
      <p:grpSp>
        <p:nvGrpSpPr>
          <p:cNvPr id="25" name="组合 24"/>
          <p:cNvGrpSpPr/>
          <p:nvPr/>
        </p:nvGrpSpPr>
        <p:grpSpPr>
          <a:xfrm>
            <a:off x="1371600" y="1371600"/>
            <a:ext cx="9418320" cy="1097280"/>
            <a:chOff x="2160" y="2160"/>
            <a:chExt cx="14832" cy="1728"/>
          </a:xfrm>
        </p:grpSpPr>
        <p:sp>
          <p:nvSpPr>
            <p:cNvPr id="4" name="Shape 2"/>
            <p:cNvSpPr/>
            <p:nvPr/>
          </p:nvSpPr>
          <p:spPr>
            <a:xfrm>
              <a:off x="2160" y="2160"/>
              <a:ext cx="14832" cy="1728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9050">
              <a:solidFill>
                <a:srgbClr val="1E3A5F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2160" y="2160"/>
              <a:ext cx="2880" cy="1728"/>
            </a:xfrm>
            <a:prstGeom prst="roundRect">
              <a:avLst>
                <a:gd name="adj" fmla="val 6667"/>
              </a:avLst>
            </a:prstGeom>
            <a:solidFill>
              <a:srgbClr val="1E3A5F"/>
            </a:solidFill>
          </p:spPr>
        </p:sp>
        <p:sp>
          <p:nvSpPr>
            <p:cNvPr id="6" name="Text 4"/>
            <p:cNvSpPr/>
            <p:nvPr/>
          </p:nvSpPr>
          <p:spPr>
            <a:xfrm>
              <a:off x="2160" y="2304"/>
              <a:ext cx="2880" cy="144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部署层</a:t>
              </a:r>
              <a:endParaRPr lang="en-US" sz="14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472" y="2304"/>
              <a:ext cx="11232" cy="144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lnSpc>
                  <a:spcPts val="2200"/>
                </a:lnSpc>
                <a:buNone/>
              </a:pPr>
              <a:r>
                <a:rPr lang="en-US" sz="1300" dirty="0">
                  <a:solidFill>
                    <a:srgbClr val="0F17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WPS 365 智能应用平台 (o.wpsgo.com)</a:t>
              </a:r>
              <a:endParaRPr lang="en-US" sz="1300" dirty="0"/>
            </a:p>
            <a:p>
              <a:pPr marL="0" indent="0">
                <a:lnSpc>
                  <a:spcPts val="2200"/>
                </a:lnSpc>
                <a:buNone/>
              </a:pPr>
              <a:r>
                <a:rPr lang="en-US" sz="1300" dirty="0">
                  <a:solidFill>
                    <a:srgbClr val="0F17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前端 → Nginx 静态    后端 → Node 服务</a:t>
              </a:r>
              <a:endParaRPr lang="en-US" sz="1300" dirty="0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372235" y="2697480"/>
            <a:ext cx="9418320" cy="1097280"/>
            <a:chOff x="2160" y="4320"/>
            <a:chExt cx="14832" cy="1728"/>
          </a:xfrm>
        </p:grpSpPr>
        <p:sp>
          <p:nvSpPr>
            <p:cNvPr id="8" name="Shape 6"/>
            <p:cNvSpPr/>
            <p:nvPr/>
          </p:nvSpPr>
          <p:spPr>
            <a:xfrm>
              <a:off x="2160" y="4320"/>
              <a:ext cx="14832" cy="1728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9050">
              <a:solidFill>
                <a:srgbClr val="2563EB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2160" y="4320"/>
              <a:ext cx="2880" cy="1728"/>
            </a:xfrm>
            <a:prstGeom prst="roundRect">
              <a:avLst>
                <a:gd name="adj" fmla="val 6667"/>
              </a:avLst>
            </a:prstGeom>
            <a:solidFill>
              <a:srgbClr val="2563EB"/>
            </a:solidFill>
          </p:spPr>
        </p:sp>
        <p:sp>
          <p:nvSpPr>
            <p:cNvPr id="10" name="Text 8"/>
            <p:cNvSpPr/>
            <p:nvPr/>
          </p:nvSpPr>
          <p:spPr>
            <a:xfrm>
              <a:off x="2160" y="4464"/>
              <a:ext cx="2880" cy="144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前端</a:t>
              </a:r>
              <a:endParaRPr lang="en-US" sz="1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472" y="4464"/>
              <a:ext cx="11232" cy="144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lnSpc>
                  <a:spcPts val="2200"/>
                </a:lnSpc>
                <a:buNone/>
              </a:pPr>
              <a:r>
                <a:rPr lang="en-US" sz="1300" dirty="0">
                  <a:solidFill>
                    <a:srgbClr val="0F17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React 19 · TypeScript · Vite 6 · Tailwind CSS 4</a:t>
              </a:r>
              <a:endParaRPr lang="en-US" sz="1300" dirty="0"/>
            </a:p>
            <a:p>
              <a:pPr marL="0" indent="0">
                <a:lnSpc>
                  <a:spcPts val="2200"/>
                </a:lnSpc>
                <a:buNone/>
              </a:pPr>
              <a:r>
                <a:rPr lang="en-US" sz="1300" dirty="0">
                  <a:solidFill>
                    <a:srgbClr val="0F17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shadcn/ui · Lucide Icons · React Router 7</a:t>
              </a:r>
              <a:endParaRPr lang="en-US" sz="1300" dirty="0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1373505" y="5486400"/>
            <a:ext cx="9418320" cy="1097280"/>
            <a:chOff x="2160" y="8640"/>
            <a:chExt cx="14832" cy="1728"/>
          </a:xfrm>
        </p:grpSpPr>
        <p:sp>
          <p:nvSpPr>
            <p:cNvPr id="16" name="Shape 14"/>
            <p:cNvSpPr/>
            <p:nvPr/>
          </p:nvSpPr>
          <p:spPr>
            <a:xfrm>
              <a:off x="2160" y="8640"/>
              <a:ext cx="14832" cy="1728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9050">
              <a:solidFill>
                <a:srgbClr val="059669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2160" y="8640"/>
              <a:ext cx="2880" cy="1728"/>
            </a:xfrm>
            <a:prstGeom prst="roundRect">
              <a:avLst>
                <a:gd name="adj" fmla="val 6667"/>
              </a:avLst>
            </a:prstGeom>
            <a:solidFill>
              <a:srgbClr val="059669"/>
            </a:solidFill>
          </p:spPr>
        </p:sp>
        <p:sp>
          <p:nvSpPr>
            <p:cNvPr id="18" name="Text 16"/>
            <p:cNvSpPr/>
            <p:nvPr/>
          </p:nvSpPr>
          <p:spPr>
            <a:xfrm>
              <a:off x="2160" y="8784"/>
              <a:ext cx="2880" cy="144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数据源</a:t>
              </a:r>
              <a:endParaRPr lang="en-US" sz="14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472" y="8784"/>
              <a:ext cx="11232" cy="144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lnSpc>
                  <a:spcPts val="2200"/>
                </a:lnSpc>
                <a:buNone/>
              </a:pPr>
              <a:r>
                <a:rPr lang="en-US" sz="1300" dirty="0">
                  <a:solidFill>
                    <a:srgbClr val="0F17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WPS 多维表格 (dbsheet)</a:t>
              </a:r>
              <a:endParaRPr lang="en-US" sz="1300" dirty="0"/>
            </a:p>
            <a:p>
              <a:pPr marL="0" indent="0">
                <a:lnSpc>
                  <a:spcPts val="2200"/>
                </a:lnSpc>
                <a:buNone/>
              </a:pPr>
              <a:r>
                <a:rPr lang="en-US" sz="1300" dirty="0">
                  <a:solidFill>
                    <a:srgbClr val="0F17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权限: kso.dbsheet.readwrite</a:t>
              </a:r>
              <a:endParaRPr lang="en-US" sz="1300" dirty="0"/>
            </a:p>
          </p:txBody>
        </p:sp>
      </p:grpSp>
      <p:sp>
        <p:nvSpPr>
          <p:cNvPr id="20" name="Text 18"/>
          <p:cNvSpPr/>
          <p:nvPr/>
        </p:nvSpPr>
        <p:spPr>
          <a:xfrm>
            <a:off x="5624830" y="24917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▼</a:t>
            </a:r>
            <a:endParaRPr lang="en-US" sz="1600" dirty="0"/>
          </a:p>
        </p:txBody>
      </p:sp>
      <p:grpSp>
        <p:nvGrpSpPr>
          <p:cNvPr id="27" name="组合 26"/>
          <p:cNvGrpSpPr/>
          <p:nvPr/>
        </p:nvGrpSpPr>
        <p:grpSpPr>
          <a:xfrm>
            <a:off x="1372870" y="3886200"/>
            <a:ext cx="9418320" cy="1371600"/>
            <a:chOff x="2160" y="6048"/>
            <a:chExt cx="14832" cy="2160"/>
          </a:xfrm>
        </p:grpSpPr>
        <p:sp>
          <p:nvSpPr>
            <p:cNvPr id="12" name="Shape 10"/>
            <p:cNvSpPr/>
            <p:nvPr/>
          </p:nvSpPr>
          <p:spPr>
            <a:xfrm>
              <a:off x="2160" y="6480"/>
              <a:ext cx="14832" cy="1728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9050">
              <a:solidFill>
                <a:srgbClr val="0891B2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2160" y="6480"/>
              <a:ext cx="2880" cy="1728"/>
            </a:xfrm>
            <a:prstGeom prst="roundRect">
              <a:avLst>
                <a:gd name="adj" fmla="val 6667"/>
              </a:avLst>
            </a:prstGeom>
            <a:solidFill>
              <a:srgbClr val="0891B2"/>
            </a:solidFill>
          </p:spPr>
        </p:sp>
        <p:sp>
          <p:nvSpPr>
            <p:cNvPr id="14" name="Text 12"/>
            <p:cNvSpPr/>
            <p:nvPr/>
          </p:nvSpPr>
          <p:spPr>
            <a:xfrm>
              <a:off x="2160" y="6624"/>
              <a:ext cx="2880" cy="144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后端</a:t>
              </a:r>
              <a:endParaRPr lang="en-US" sz="14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472" y="6624"/>
              <a:ext cx="11232" cy="144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lnSpc>
                  <a:spcPts val="2200"/>
                </a:lnSpc>
                <a:buNone/>
              </a:pPr>
              <a:r>
                <a:rPr lang="en-US" sz="1300" dirty="0">
                  <a:solidFill>
                    <a:srgbClr val="0F17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Nitro 2 (Node preset) · TypeScript</a:t>
              </a:r>
              <a:endParaRPr lang="en-US" sz="1300" dirty="0"/>
            </a:p>
            <a:p>
              <a:pPr marL="0" indent="0">
                <a:lnSpc>
                  <a:spcPts val="2200"/>
                </a:lnSpc>
                <a:buNone/>
              </a:pPr>
              <a:r>
                <a:rPr lang="en-US" sz="1300" dirty="0">
                  <a:solidFill>
                    <a:srgbClr val="0F17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OAuth 回调 · Capability 代理 · 健康检查</a:t>
              </a:r>
              <a:endParaRPr lang="en-US" sz="13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8928" y="6048"/>
              <a:ext cx="1440" cy="43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64748B"/>
                  </a:solidFill>
                </a:rPr>
                <a:t>▼</a:t>
              </a:r>
              <a:endParaRPr lang="en-US" sz="1600" dirty="0"/>
            </a:p>
          </p:txBody>
        </p:sp>
      </p:grpSp>
      <p:sp>
        <p:nvSpPr>
          <p:cNvPr id="22" name="Text 20"/>
          <p:cNvSpPr/>
          <p:nvPr/>
        </p:nvSpPr>
        <p:spPr>
          <a:xfrm>
            <a:off x="4710430" y="5236845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▼  OAuth + API 代理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6635115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8 / 10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6696075"/>
            <a:ext cx="11247120" cy="0"/>
          </a:xfrm>
          <a:prstGeom prst="line">
            <a:avLst/>
          </a:prstGeom>
          <a:noFill/>
          <a:ln w="6350">
            <a:solidFill>
              <a:srgbClr val="E4ECF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 数据模型与核心算法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280160"/>
          <a:ext cx="11247120" cy="2606040"/>
        </p:xfrm>
        <a:graphic>
          <a:graphicData uri="http://schemas.openxmlformats.org/drawingml/2006/table">
            <a:tbl>
              <a:tblPr/>
              <a:tblGrid>
                <a:gridCol w="1645920"/>
                <a:gridCol w="4572000"/>
                <a:gridCol w="5029200"/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数据类型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主要字段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统计能力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需求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标题、状态、优先级、项目、迭代月份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开发/测试负责人、ONES ID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按状态加权进度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按月聚合、完成率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里程碑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名称、计划/实际时间、状态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所属迭代、备注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逾期判断、时间分组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完成/待办统计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风险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事项、状态、提报日期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归属产品、应对策略、关联ONES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活跃风险计数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策略分组、需求关联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93192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核心算法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4480560"/>
            <a:ext cx="11247120" cy="475488"/>
          </a:xfrm>
          <a:prstGeom prst="roundRect">
            <a:avLst>
              <a:gd name="adj" fmla="val 9615"/>
            </a:avLst>
          </a:prstGeom>
          <a:solidFill>
            <a:srgbClr val="F1F5FD"/>
          </a:solidFill>
        </p:spPr>
      </p:sp>
      <p:sp>
        <p:nvSpPr>
          <p:cNvPr id="7" name="Text 4"/>
          <p:cNvSpPr/>
          <p:nvPr/>
        </p:nvSpPr>
        <p:spPr>
          <a:xfrm>
            <a:off x="640080" y="4498848"/>
            <a:ext cx="18288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进度权重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560320" y="4498848"/>
            <a:ext cx="89611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按需求阶段映射累计进度（开发中40%、测试中77%、已发布100%），公式：Σ(状态进度)÷需求总数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5010912"/>
            <a:ext cx="112471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</p:spPr>
      </p:sp>
      <p:sp>
        <p:nvSpPr>
          <p:cNvPr id="4" name="Text 7"/>
          <p:cNvSpPr/>
          <p:nvPr/>
        </p:nvSpPr>
        <p:spPr>
          <a:xfrm>
            <a:off x="640080" y="5029200"/>
            <a:ext cx="18288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风险判定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560320" y="5029200"/>
            <a:ext cx="89611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排除「已解除/已关闭/已完成」，其余（含未规避、未关闭）计为活跃风险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5541264"/>
            <a:ext cx="11247120" cy="475488"/>
          </a:xfrm>
          <a:prstGeom prst="roundRect">
            <a:avLst>
              <a:gd name="adj" fmla="val 9615"/>
            </a:avLst>
          </a:prstGeom>
          <a:solidFill>
            <a:srgbClr val="F1F5FD"/>
          </a:solidFill>
        </p:spPr>
      </p:sp>
      <p:sp>
        <p:nvSpPr>
          <p:cNvPr id="13" name="Text 10"/>
          <p:cNvSpPr/>
          <p:nvPr/>
        </p:nvSpPr>
        <p:spPr>
          <a:xfrm>
            <a:off x="640080" y="5559552"/>
            <a:ext cx="18288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里程碑有效性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560320" y="5559552"/>
            <a:ext cx="89611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必须有计划时间才算里程碑，无计划时间的不纳入统计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6071616"/>
            <a:ext cx="112471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</p:spPr>
      </p:sp>
      <p:sp>
        <p:nvSpPr>
          <p:cNvPr id="16" name="Text 13"/>
          <p:cNvSpPr/>
          <p:nvPr/>
        </p:nvSpPr>
        <p:spPr>
          <a:xfrm>
            <a:off x="640080" y="6089904"/>
            <a:ext cx="18288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工作日计算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560320" y="6089904"/>
            <a:ext cx="89611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里程碑延期天数考虑2026年法定节假日与调休上班日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114800" y="6492240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9 / 10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E4ECFC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  业务价值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4ECFC"/>
            </a:solidFill>
            <a:prstDash val="solid"/>
          </a:ln>
          <a:effectLst>
            <a:outerShdw blurRad="76200" dist="25400" dir="16200000" algn="bl" rotWithShape="0">
              <a:srgbClr val="D0D5DD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45920"/>
            <a:ext cx="914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1645920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汇报效率提升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45920" y="2194560"/>
            <a:ext cx="38404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从翻表汇总 → 打开看板即得全局数据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汇报准备时间大幅缩短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4ECFC"/>
            </a:solidFill>
            <a:prstDash val="solid"/>
          </a:ln>
          <a:effectLst>
            <a:outerShdw blurRad="76200" dist="25400" dir="16200000" algn="bl" rotWithShape="0">
              <a:srgbClr val="D0D5DD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645920"/>
            <a:ext cx="914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406640" y="1645920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风险可见性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06640" y="2194560"/>
            <a:ext cx="38404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未关闭风险集中展示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避免遗漏，防患于未然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4ECFC"/>
            </a:solidFill>
            <a:prstDash val="solid"/>
          </a:ln>
          <a:effectLst>
            <a:outerShdw blurRad="76200" dist="25400" dir="16200000" algn="bl" rotWithShape="0">
              <a:srgbClr val="D0D5DD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4114800"/>
            <a:ext cx="914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645920" y="4114800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里程碑聚焦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45920" y="4663440"/>
            <a:ext cx="38404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按自然时间排序，近期节点置顶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打开就知道下一步做什么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84048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4ECFC"/>
            </a:solidFill>
            <a:prstDash val="solid"/>
          </a:ln>
          <a:effectLst>
            <a:outerShdw blurRad="76200" dist="25400" dir="16200000" algn="bl" rotWithShape="0">
              <a:srgbClr val="D0D5DD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4114800"/>
            <a:ext cx="914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406640" y="4114800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数据一致性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06640" y="4663440"/>
            <a:ext cx="38404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看板只读表格，维护仍在原表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零迁移成本，无需双写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0" y="6492240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10 / 10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E4ECFC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  使用与获取方式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03520" cy="2743200"/>
          </a:xfrm>
          <a:prstGeom prst="roundRect">
            <a:avLst>
              <a:gd name="adj" fmla="val 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🌐  线上使用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4754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访问地址：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https://o.wpsgo.com/app/41000207/9w1qvC8NVtKs/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47548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首次使用触发 WPS OAuth 授权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授权后即可读取多维表格数据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页面右上角「刷新数据」可手动重新拉取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486400" cy="2743200"/>
          </a:xfrm>
          <a:prstGeom prst="roundRect">
            <a:avLst>
              <a:gd name="adj" fmla="val 333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463040"/>
            <a:ext cx="4937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💻  本地开发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01168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环境要求：Node.js ≥ 20、pnpm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2560320"/>
            <a:ext cx="49377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pnpm install          # 安装依赖</a:t>
            </a:r>
            <a:endParaRPr lang="en-US" sz="11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pnpm run dev          # 启动开发环境</a:t>
            </a:r>
            <a:endParaRPr lang="en-US" sz="11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pnpm run check:types  # 类型检查</a:t>
            </a:r>
            <a:endParaRPr lang="en-US" sz="11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pnpm run pack         # 打包部署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389120"/>
            <a:ext cx="11247120" cy="1645920"/>
          </a:xfrm>
          <a:prstGeom prst="roundRect">
            <a:avLst>
              <a:gd name="adj" fmla="val 5556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48056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240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📦  打包部署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937760"/>
            <a:ext cx="107899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78350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pnpm run pack 生成：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78350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·  .publish/dist-frontend.zip（前端静态资源）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78350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·  .publish/dist-server.zip（后端 Node 服务）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78350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上传至 WPS 365 智能应用平台对应运行时即可更新线上版本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0" y="6492240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11 / 11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E4ECFC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Shap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62D4A"/>
          </a:solidFill>
        </p:spPr>
      </p:sp>
      <p:sp>
        <p:nvSpPr>
          <p:cNvPr id="4" name="Text 2"/>
          <p:cNvSpPr/>
          <p:nvPr/>
        </p:nvSpPr>
        <p:spPr>
          <a:xfrm>
            <a:off x="914400" y="1097280"/>
            <a:ext cx="1036015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0" y="2011680"/>
            <a:ext cx="9445752" cy="2377440"/>
          </a:xfrm>
          <a:prstGeom prst="roundRect">
            <a:avLst>
              <a:gd name="adj" fmla="val 5769"/>
            </a:avLst>
          </a:prstGeom>
          <a:solidFill>
            <a:srgbClr val="1E3A5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2194560"/>
            <a:ext cx="8531352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政务产研迭代进度看板</a:t>
            </a:r>
            <a:endParaRPr lang="en-US" sz="2000" dirty="0"/>
          </a:p>
          <a:p>
            <a:pPr marL="0" indent="0" algn="ctr">
              <a:lnSpc>
                <a:spcPts val="3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=</a:t>
            </a:r>
            <a:endParaRPr lang="en-US" sz="2000" dirty="0"/>
          </a:p>
          <a:p>
            <a:pPr marL="0" indent="0" algn="ctr">
              <a:lnSpc>
                <a:spcPts val="3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WPS 多维表格数据 + WPS365 智能应用 + 状态加权进度算法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3657600"/>
            <a:ext cx="853135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 2026 政务产品研发迭代提供「需求 — 里程碑 — 风险」三位一体的实时管理驾驶舱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754880"/>
            <a:ext cx="103601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感谢关注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5669280"/>
            <a:ext cx="103601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https://o.wpsgo.com/app/41000207/9w1qvC8NVtKs/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0" y="6492240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12 / 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E4ECFC"/>
            </a:solidFill>
            <a:prstDash val="solid"/>
          </a:ln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5.2,&quot;left&quot;:57.6,&quot;top&quot;:270,&quot;width&quot;:842.4}"/>
</p:tagLst>
</file>

<file path=ppt/tags/tag2.xml><?xml version="1.0" encoding="utf-8"?>
<p:tagLst xmlns:p="http://schemas.openxmlformats.org/presentationml/2006/main">
  <p:tag name="KSO_WM_DIAGRAM_VIRTUALLY_FRAME" val="{&quot;height&quot;:205.2,&quot;left&quot;:57.6,&quot;top&quot;:270,&quot;width&quot;:842.4}"/>
</p:tagLst>
</file>

<file path=ppt/tags/tag3.xml><?xml version="1.0" encoding="utf-8"?>
<p:tagLst xmlns:p="http://schemas.openxmlformats.org/presentationml/2006/main">
  <p:tag name="KSO_WM_DIAGRAM_VIRTUALLY_FRAME" val="{&quot;height&quot;:205.2,&quot;left&quot;:57.6,&quot;top&quot;:270,&quot;width&quot;:842.4}"/>
</p:tagLst>
</file>

<file path=ppt/tags/tag4.xml><?xml version="1.0" encoding="utf-8"?>
<p:tagLst xmlns:p="http://schemas.openxmlformats.org/presentationml/2006/main">
  <p:tag name="KSO_WM_DIAGRAM_VIRTUALLY_FRAME" val="{&quot;height&quot;:205.2,&quot;left&quot;:57.6,&quot;top&quot;:270,&quot;width&quot;:842.4}"/>
</p:tagLst>
</file>

<file path=ppt/tags/tag5.xml><?xml version="1.0" encoding="utf-8"?>
<p:tagLst xmlns:p="http://schemas.openxmlformats.org/presentationml/2006/main">
  <p:tag name="KSO_WM_DIAGRAM_VIRTUALLY_FRAME" val="{&quot;height&quot;:205.2,&quot;left&quot;:57.6,&quot;top&quot;:270,&quot;width&quot;:842.4}"/>
</p:tagLst>
</file>

<file path=ppt/tags/tag6.xml><?xml version="1.0" encoding="utf-8"?>
<p:tagLst xmlns:p="http://schemas.openxmlformats.org/presentationml/2006/main">
  <p:tag name="KSO_WM_DIAGRAM_VIRTUALLY_FRAME" val="{&quot;height&quot;:205.2,&quot;left&quot;:57.6,&quot;top&quot;:270,&quot;width&quot;:842.4}"/>
</p:tagLst>
</file>

<file path=ppt/tags/tag7.xml><?xml version="1.0" encoding="utf-8"?>
<p:tagLst xmlns:p="http://schemas.openxmlformats.org/presentationml/2006/main">
  <p:tag name="KSO_WM_DIAGRAM_VIRTUALLY_FRAME" val="{&quot;height&quot;:205.2,&quot;left&quot;:57.6,&quot;top&quot;:270,&quot;width&quot;:842.4}"/>
</p:tagLst>
</file>

<file path=ppt/tags/tag8.xml><?xml version="1.0" encoding="utf-8"?>
<p:tagLst xmlns:p="http://schemas.openxmlformats.org/presentationml/2006/main">
  <p:tag name="KSO_WM_DIAGRAM_VIRTUALLY_FRAME" val="{&quot;height&quot;:205.2,&quot;left&quot;:57.6,&quot;top&quot;:270,&quot;width&quot;:842.4}"/>
</p:tagLst>
</file>

<file path=ppt/tags/tag9.xml><?xml version="1.0" encoding="utf-8"?>
<p:tagLst xmlns:p="http://schemas.openxmlformats.org/presentationml/2006/main">
  <p:tag name="KSO_WM_DIAGRAM_VIRTUALLY_FRAME" val="{&quot;height&quot;:205.2,&quot;left&quot;:57.6,&quot;top&quot;:270,&quot;width&quot;:842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2670</Words>
  <Application>WPS 演示</Application>
  <PresentationFormat>On-screen Show (16:9)</PresentationFormat>
  <Paragraphs>353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政务产研迭代进度看板</dc:title>
  <dc:creator>政务产研团队</dc:creator>
  <dc:subject>产品介绍</dc:subject>
  <cp:lastModifiedBy>冯雨檬</cp:lastModifiedBy>
  <cp:revision>2</cp:revision>
  <dcterms:created xsi:type="dcterms:W3CDTF">2026-06-06T15:29:00Z</dcterms:created>
  <dcterms:modified xsi:type="dcterms:W3CDTF">2026-06-06T15:50:40Z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6F226847239546DDB7722986C139C3A9_12</vt:lpwstr>
  </property>
  <property fmtid="{D5CDD505-2E9C-101B-9397-08002B2CF9AE}" pid="3" name="KSOProductBuildVer">
    <vt:lpwstr>2052-12.1.0.21915</vt:lpwstr>
  </property>
</Properties>
</file>